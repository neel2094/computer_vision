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5"/>
  </p:notesMasterIdLst>
  <p:sldIdLst>
    <p:sldId id="4851" r:id="rId3"/>
    <p:sldId id="4852" r:id="rId4"/>
    <p:sldId id="4877" r:id="rId5"/>
    <p:sldId id="4871" r:id="rId6"/>
    <p:sldId id="4853" r:id="rId7"/>
    <p:sldId id="4854" r:id="rId8"/>
    <p:sldId id="4855" r:id="rId9"/>
    <p:sldId id="4872" r:id="rId10"/>
    <p:sldId id="4873" r:id="rId11"/>
    <p:sldId id="4874" r:id="rId12"/>
    <p:sldId id="4856" r:id="rId13"/>
    <p:sldId id="4857" r:id="rId14"/>
    <p:sldId id="4875" r:id="rId15"/>
    <p:sldId id="4876" r:id="rId16"/>
    <p:sldId id="4866" r:id="rId17"/>
    <p:sldId id="4867" r:id="rId18"/>
    <p:sldId id="4869" r:id="rId19"/>
    <p:sldId id="4868" r:id="rId20"/>
    <p:sldId id="4878" r:id="rId21"/>
    <p:sldId id="4879" r:id="rId22"/>
    <p:sldId id="4880" r:id="rId23"/>
    <p:sldId id="4839" r:id="rId24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6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37FF59-A6D7-4798-BF5C-DEFF2A1F8F61}" v="120" dt="2025-07-25T06:45:02.8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CCAC3FB-F4E3-4FD0-BC46-E9FA14EFD7E0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F9625B0-023F-45EA-A50B-BE8DFC8B9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745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625B0-023F-45EA-A50B-BE8DFC8B91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88894-4155-4D84-9C5E-FE2DA2828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66A29-BC34-46A3-BAB5-86D8B792A3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88BFD-DE3E-4135-964C-0AD1925D3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BFCCC-AC47-403C-9366-347A84B7B55C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1BF2-4E35-437E-8E8D-090448EF2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37B1E-7BAB-4998-87DC-E186512F4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70461"/>
      </p:ext>
    </p:extLst>
  </p:cSld>
  <p:clrMapOvr>
    <a:masterClrMapping/>
  </p:clrMapOvr>
  <p:transition spd="slow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2C116-ECAD-4303-A896-3407D9A93E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99794"/>
            <a:ext cx="10515600" cy="770171"/>
          </a:xfrm>
        </p:spPr>
        <p:txBody>
          <a:bodyPr/>
          <a:lstStyle>
            <a:lvl1pPr>
              <a:defRPr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   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A22A-CDA7-4400-9298-3D045B296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A983A-956B-450B-8E05-904A6384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2AF64-4213-43C9-960F-27DD95E38FA1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13DFD-2903-4B27-85AD-3E0A79DF6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1CA66-118D-4580-811D-DA5ED21AB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85956A7-AA72-4797-98BD-E6EBAE67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69965"/>
            <a:ext cx="10429240" cy="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88163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6C6A5-FAB2-40F8-8BAF-FE6A5D002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1F8013-D8C8-4740-B56D-444259A3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ABB6C-2E36-4B31-8428-ED7048D1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1BA710-185D-4223-B55E-854EC505C269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C9BB5-8E56-4F93-8848-622EA7BA7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6AF97-84BF-4D60-9264-E22A8C124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01257"/>
      </p:ext>
    </p:extLst>
  </p:cSld>
  <p:clrMapOvr>
    <a:masterClrMapping/>
  </p:clrMapOvr>
  <p:transition spd="slow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1825-E5BD-45E6-84C7-E133C3A4A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D092-DFBB-45FB-828A-6A0DB330E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41EC57-E19F-4B2B-8406-1C53100D1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D765F8-A4F1-4623-8457-F12CB0953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40B2C-6950-4B0D-818E-B8BD47969A94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224BF-EC2C-4A1D-9B18-ED0833ED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26699F-011D-44AE-A0DA-3401655E9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69681"/>
      </p:ext>
    </p:extLst>
  </p:cSld>
  <p:clrMapOvr>
    <a:masterClrMapping/>
  </p:clrMapOvr>
  <p:transition spd="slow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6D697-52B3-43CF-88E0-F99E392EF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8BA3FA-EC9A-4F5F-A3A2-9EF896290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52B8-5A68-4764-A4CE-8D9363E20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17DE9-A005-47E9-B712-E4F1AA51C2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61D8AA-3CDC-4376-91D9-722A9D2C44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5927B3-FC77-4576-9A32-92998918C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9B498-8226-41DF-A95D-4B1758C7295D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7D9DE0-A715-460B-814A-8026DE279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2853-9BC0-400E-92D7-4985FFDBA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493879"/>
      </p:ext>
    </p:extLst>
  </p:cSld>
  <p:clrMapOvr>
    <a:masterClrMapping/>
  </p:clrMapOvr>
  <p:transition spd="slow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97B1-80AB-459A-9644-65A9F69B3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213B7-1608-4813-A97B-FB76B05D6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0EDAA-89A1-4F8A-9962-D9E2809FA9E9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4C3D1-A8F6-4C9D-B60C-6BF62A595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0746B-D40D-46D7-BB93-3A33784C2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49972"/>
      </p:ext>
    </p:extLst>
  </p:cSld>
  <p:clrMapOvr>
    <a:masterClrMapping/>
  </p:clrMapOvr>
  <p:transition spd="slow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EA768-6484-41F2-B2A9-7012084C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0A11-D262-4E8F-A94D-180ED31AEA1B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184B5-F788-4F21-9026-011EA48F4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AE82-B26E-4962-B970-F15232ABB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55139"/>
      </p:ext>
    </p:extLst>
  </p:cSld>
  <p:clrMapOvr>
    <a:masterClrMapping/>
  </p:clrMapOvr>
  <p:transition spd="slow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E3A4F-9D1A-4926-86E5-E71301239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8A4F9-798A-4677-8F4E-5549A0117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A4FE3A-6BA2-4BD9-BE2E-DAC2668DE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20871B-A600-4C4C-A3F2-334C8E47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517792-C37F-4A34-A112-F0070C7F4333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0735C4-09C4-4C76-A82E-578462D52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CF71A-C2EF-4A7A-942F-22B9CB325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5290"/>
      </p:ext>
    </p:extLst>
  </p:cSld>
  <p:clrMapOvr>
    <a:masterClrMapping/>
  </p:clrMapOvr>
  <p:transition spd="slow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F004-0B4A-4642-8FB6-D168BC7DE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F6E614-18C5-4C29-8C50-7E6DFBE783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82BB79-4F4D-4702-B6FD-F14270E44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2A889B-CFF9-41AB-A1C9-AC400E2CB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4BC26-91B1-4C50-BE35-8795EE1A2356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F99A2-4880-43C4-B267-327FE780B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4F1651-4245-4DD9-9561-94D319E7B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76926"/>
      </p:ext>
    </p:extLst>
  </p:cSld>
  <p:clrMapOvr>
    <a:masterClrMapping/>
  </p:clrMapOvr>
  <p:transition spd="slow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5A355-38AD-41DF-A324-E7D69013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7642A4-A234-4CCF-BECE-50D382E2E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063C5-143E-4C1A-AB30-62A29DB2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89D6F-C8DE-4D62-A7E4-AA6606139B7B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D1F96-CB4F-436A-AB8C-2E58DAEC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23CB2-93C9-4834-8FB4-6EE339ECE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17153"/>
      </p:ext>
    </p:extLst>
  </p:cSld>
  <p:clrMapOvr>
    <a:masterClrMapping/>
  </p:clrMapOvr>
  <p:transition spd="slow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6DA8E5-22B5-465D-8FED-3E2F6463E2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2BED7-1D4B-4AFF-883C-E02ABDF72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5CC37-2BBB-4619-B66A-DEE44F93A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D7F89-E7DD-42D8-8B58-5235AB686501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35AE-23DE-4EEE-B3CF-AED96FE04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AEDE2-8A1C-4EC3-8107-4E72ACCC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74089"/>
      </p:ext>
    </p:extLst>
  </p:cSld>
  <p:clrMapOvr>
    <a:masterClrMapping/>
  </p:clrMapOvr>
  <p:transition spd="slow">
    <p:cover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23DE32A5-6181-4C51-AD5C-3F1A448478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3293964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7A810-A464-FE12-163B-55ADFE2A68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6A19D4-86EE-1B87-46B9-032917C2F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9BD3E-E9CF-7B01-5ED2-F5B45EDB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AE94-169A-4DEA-88B3-C5D4C882F9E6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84CC-8657-F2DA-69B3-241A99D1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FF078-30D4-9585-02AC-C2E6EF1CF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20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A819-B3A7-9EDE-D7C3-8FB5905C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F5DB1-02ED-A8DC-FCCA-A67B70854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0D0BC-9110-A470-5EF0-0EE552754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0A0D3-0C2F-4BEA-84B5-7A68FF7D3368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CAEF6-A369-88B7-CDFA-FD9B105A0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8CA5-2E17-0D2F-91F7-5B6D1F609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804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ABC56-21FB-EEBE-BC45-5143BF8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6BE9-3C2A-17FB-87C2-BD24B15FD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51AE2-0DCB-46F1-BF15-DCB53B69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E77CB-656F-4EBB-A136-C3FDD4612D88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D729-474E-9735-DE7E-D1147752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E9282-36B8-CDA7-0FE2-278ED01B4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1022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D262-2836-99AF-CD7F-CB09EBB39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5AC74-7D82-0857-7A99-B3C8E1CF9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F71E60-CE81-1078-FC4A-2F236B3B7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2336D-62BB-3C32-00C5-9D0E31123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43B88-0020-44C3-AFFF-0E49B3F2463F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BAA1B-1B83-4E47-FC94-56945DF69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53828-C9D9-3885-41D7-5E3D19CE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315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5B05-E4CA-C872-C737-384851CF3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1738-D01E-5EFB-D0AA-AEB2225CF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B6D1D1-1490-4FD9-E33F-62AA0131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CBF92C-ED85-F3C8-F15C-1E6FC740C0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76428E-0AAC-D3DE-20C8-EA75021837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8B2622-6BE3-55A3-0DEE-68E33DBE6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CEAF6-1CA4-4C7E-B724-B5BFAE52D2EC}" type="datetime1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BFB727-1FF9-41C3-14DC-50BA52FBD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84B5BB-B963-E192-736E-B1423F370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2229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FB03B-12DA-4E43-DC6D-EEC29D77F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979CED-C82A-ACFF-8E14-8CE9181CF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1EF69-7311-47DF-91AB-4FFEC211C186}" type="datetime1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7D8EB3-D3FC-57DF-D0FB-74B5E51CB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957E2E-4D48-BFA2-D83B-87A59325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020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5E7A8-5103-20A9-A0E9-C3197177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2BCF3-8539-4470-923F-7F39E7B06160}" type="datetime1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F5766-83A2-B291-33A5-2509C68D5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19B18-73D1-83C7-21E4-F6EDF91DD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738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AD715-3C0B-712B-DBB4-A1261A944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8FF22-C30F-12D8-7720-6CF08DF8F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C555E-7B14-96BB-B707-49A651F2B3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39B85-01E5-8EE2-1A44-6E65CEB0B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57B67-1871-4DA7-89AF-FD4FF5F50C5A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E0D45-79E5-9F78-F370-BBE5A24AB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92228-BB35-5FE5-E42A-CE14EB822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55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0BAE-D582-EAA2-4D28-5AD6F5EF1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BF636-3B14-35FC-D8FF-3DB13B7CD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90041-5F80-20E5-589A-F56EC4C8A5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87C5B-7C80-072D-AD96-3074B0BD3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49DF5-0705-4657-A2EF-74F3755D8D7A}" type="datetime1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08263-70AB-E265-FDC0-14421EDF1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C41AD7-EE57-84C5-204C-EF2C2FD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9668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A70C-1631-0CC4-5DD0-35555227D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081EEE-264D-6362-7C38-AE1A1009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856F1C-1BF2-C395-E0C9-D58EFF47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47786-DC32-4A50-B49D-7DE296F09924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E846-2998-E810-75E4-C6E71E81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1572BB-B40C-3C94-F680-4980CFBE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094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61CA6-2CA4-9E45-E3DB-FD2CD59D6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569F6A-D44C-800E-6B4D-7C659D853B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F0E0-29D4-256B-03DD-1359C345B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C83A5-D720-4336-AC7F-F62CB3903813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D93AF-A6D0-37AB-B793-53CDFA88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662B0-5855-FE87-F83A-338D29F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72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512697-5905-4060-972C-055636AD1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0361-75E7-45BA-AEAF-7DA913AE8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2D57C2-4B04-40B0-BD2D-1B87544A0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66669-728A-4767-A58B-E061FE28389A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E8C28-69FA-48EC-AB64-A194B89A6E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F9104-4FD5-42C6-87B6-002371A14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18F05-C3D0-4616-BBA3-717C141F9FDD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6A71-0258-8E15-596C-A49AC6B5AE73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259400"/>
            <a:ext cx="3142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ransition spd="slow">
    <p:cover/>
  </p:transition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3397D-9FB2-09F8-105B-168634527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3588-F929-1590-1A3B-5954709C4C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6519E-DBB2-C833-E6ED-BE195FA4B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466D2-B7C0-4A86-8132-5C4294393C50}" type="datetime1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0197E-D729-1883-52C1-0FAC85E5A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AD1F47-0E3C-D8A7-3B0C-AD8B0784CF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34F80E-482E-4152-8B87-3077434201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52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37D4E1-500A-8D99-BC8A-0B00A8379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" y="729343"/>
            <a:ext cx="11405771" cy="2699657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rgbClr val="0070C0"/>
                </a:solidFill>
                <a:latin typeface="Adani Bold" panose="02000503000000020004" pitchFamily="2" charset="0"/>
              </a:rPr>
              <a:t>Computer Vision using Python</a:t>
            </a:r>
            <a:br>
              <a:rPr lang="en-US" sz="36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  <a:t> </a:t>
            </a:r>
            <a:b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br>
              <a:rPr lang="en-IN" sz="3800" dirty="0">
                <a:solidFill>
                  <a:srgbClr val="0070C0"/>
                </a:solidFill>
                <a:latin typeface="Adani Bold" panose="02000503000000020004" pitchFamily="2" charset="0"/>
              </a:rPr>
            </a:br>
            <a:r>
              <a:rPr lang="en-IN" sz="3800" dirty="0">
                <a:solidFill>
                  <a:schemeClr val="bg2">
                    <a:lumMod val="75000"/>
                  </a:schemeClr>
                </a:solidFill>
                <a:latin typeface="Adani Bold" panose="02000503000000020004" pitchFamily="2" charset="0"/>
              </a:rPr>
              <a:t>Pest &amp; Disease Detection in Field Crops</a:t>
            </a:r>
            <a:br>
              <a:rPr lang="en-IN" sz="3800" dirty="0">
                <a:solidFill>
                  <a:schemeClr val="bg2">
                    <a:lumMod val="75000"/>
                  </a:schemeClr>
                </a:solidFill>
                <a:latin typeface="Adani Bold" panose="02000503000000020004" pitchFamily="2" charset="0"/>
              </a:rPr>
            </a:br>
            <a:r>
              <a:rPr lang="en-IN" sz="3100" dirty="0">
                <a:solidFill>
                  <a:schemeClr val="bg2">
                    <a:lumMod val="75000"/>
                  </a:schemeClr>
                </a:solidFill>
                <a:latin typeface="Adani Bold" panose="02000503000000020004" pitchFamily="2" charset="0"/>
              </a:rPr>
              <a:t>(Precision Agriculture)</a:t>
            </a:r>
            <a:endParaRPr lang="en-US" sz="3100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E3D187-03AE-2D19-D04A-6B119571EC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478" b="25524"/>
          <a:stretch/>
        </p:blipFill>
        <p:spPr>
          <a:xfrm>
            <a:off x="402771" y="3600334"/>
            <a:ext cx="8746671" cy="1555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48C1B0-3470-9BA5-06CB-93CE4FD4347B}"/>
              </a:ext>
            </a:extLst>
          </p:cNvPr>
          <p:cNvSpPr txBox="1"/>
          <p:nvPr/>
        </p:nvSpPr>
        <p:spPr>
          <a:xfrm>
            <a:off x="439183" y="4168309"/>
            <a:ext cx="2169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1"/>
                </a:solidFill>
              </a:rPr>
              <a:t>Group No. 10</a:t>
            </a:r>
          </a:p>
        </p:txBody>
      </p:sp>
      <p:sp>
        <p:nvSpPr>
          <p:cNvPr id="9" name="Subtitle 4">
            <a:extLst>
              <a:ext uri="{FF2B5EF4-FFF2-40B4-BE49-F238E27FC236}">
                <a16:creationId xmlns:a16="http://schemas.microsoft.com/office/drawing/2014/main" id="{B552563A-2E35-1925-15F4-8FA280BF0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183" y="4845343"/>
            <a:ext cx="7043165" cy="1869881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/>
              <a:t>Team Member 1  :  Nakul Jadhav ( AI &amp; DS 20252029 )</a:t>
            </a:r>
          </a:p>
          <a:p>
            <a:pPr algn="just"/>
            <a:r>
              <a:rPr lang="en-US" sz="2000" b="1" dirty="0"/>
              <a:t>Team Member 2  :  Neel Javiya ( AI &amp; DS 20252030 )</a:t>
            </a:r>
          </a:p>
        </p:txBody>
      </p:sp>
    </p:spTree>
    <p:extLst>
      <p:ext uri="{BB962C8B-B14F-4D97-AF65-F5344CB8AC3E}">
        <p14:creationId xmlns:p14="http://schemas.microsoft.com/office/powerpoint/2010/main" val="1018342377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79197E-C517-7E93-52BD-64DC32CAA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2" y="438753"/>
            <a:ext cx="10515600" cy="770171"/>
          </a:xfrm>
        </p:spPr>
        <p:txBody>
          <a:bodyPr>
            <a:normAutofit/>
          </a:bodyPr>
          <a:lstStyle/>
          <a:p>
            <a:r>
              <a:rPr lang="en-US" dirty="0"/>
              <a:t>Problem Understanding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EC0A91-C44A-F5A9-6639-BB16F53847C4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D7FBAE4-CDA3-C264-FE78-EF03E3BA8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072" y="1344117"/>
            <a:ext cx="6972607" cy="6494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37C3740-82F1-5A1E-39CA-417662FDC109}"/>
              </a:ext>
            </a:extLst>
          </p:cNvPr>
          <p:cNvSpPr txBox="1"/>
          <p:nvPr/>
        </p:nvSpPr>
        <p:spPr>
          <a:xfrm>
            <a:off x="8898193" y="3429000"/>
            <a:ext cx="24384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“So our goal is to automate this process using AI for faster and more accurate detection.”</a:t>
            </a:r>
          </a:p>
        </p:txBody>
      </p:sp>
    </p:spTree>
    <p:extLst>
      <p:ext uri="{BB962C8B-B14F-4D97-AF65-F5344CB8AC3E}">
        <p14:creationId xmlns:p14="http://schemas.microsoft.com/office/powerpoint/2010/main" val="1779548671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296D9-B078-2417-294B-3E4519346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7EACF0-6416-90D6-8619-2E2E20CBC7D3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6A8775-841D-6832-E990-DD18E01261B7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69BD2B-0D25-A956-C856-A33380FC4D77}"/>
              </a:ext>
            </a:extLst>
          </p:cNvPr>
          <p:cNvSpPr txBox="1"/>
          <p:nvPr/>
        </p:nvSpPr>
        <p:spPr>
          <a:xfrm>
            <a:off x="4769898" y="3429000"/>
            <a:ext cx="18085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dirty="0"/>
              <a:t>Why ?</a:t>
            </a:r>
          </a:p>
        </p:txBody>
      </p:sp>
    </p:spTree>
    <p:extLst>
      <p:ext uri="{BB962C8B-B14F-4D97-AF65-F5344CB8AC3E}">
        <p14:creationId xmlns:p14="http://schemas.microsoft.com/office/powerpoint/2010/main" val="353137757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E7546-1AF0-93C6-BDD1-FA8C25208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C9530FB-9EF8-D482-73CE-C9C36E51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85"/>
            <a:ext cx="10515600" cy="770171"/>
          </a:xfrm>
        </p:spPr>
        <p:txBody>
          <a:bodyPr>
            <a:normAutofit/>
          </a:bodyPr>
          <a:lstStyle/>
          <a:p>
            <a:r>
              <a:rPr lang="en-US" dirty="0"/>
              <a:t>Motivation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65187C-ADDB-0562-2B22-26394F22A8F1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B998FB3-D8E2-57C4-6CD4-F95E2CF6B2E6}"/>
              </a:ext>
            </a:extLst>
          </p:cNvPr>
          <p:cNvSpPr/>
          <p:nvPr/>
        </p:nvSpPr>
        <p:spPr>
          <a:xfrm>
            <a:off x="8750710" y="5604387"/>
            <a:ext cx="1425677" cy="49161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BF6F2-0938-637F-2F6E-B07ACF095200}"/>
              </a:ext>
            </a:extLst>
          </p:cNvPr>
          <p:cNvSpPr txBox="1"/>
          <p:nvPr/>
        </p:nvSpPr>
        <p:spPr>
          <a:xfrm>
            <a:off x="993057" y="2369784"/>
            <a:ext cx="7315201" cy="3628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Agriculture is a </a:t>
            </a:r>
            <a:r>
              <a:rPr lang="en-IN" b="1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critical sector for economy &amp; food security</a:t>
            </a:r>
            <a:endParaRPr lang="en-IN" kern="100" dirty="0">
              <a:effectLst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Crop diseases &amp; pests cause </a:t>
            </a:r>
            <a:r>
              <a:rPr lang="en-IN" b="1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major yield loss (20–40%)</a:t>
            </a:r>
            <a:endParaRPr lang="en-IN" kern="100" dirty="0">
              <a:effectLst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Farmers lack access to </a:t>
            </a:r>
            <a:r>
              <a:rPr lang="en-IN" b="1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advanced diagnostic tools</a:t>
            </a:r>
            <a:r>
              <a:rPr lang="en-IN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 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kern="100" dirty="0">
              <a:effectLst/>
              <a:ea typeface="Calibri" panose="020F0502020204030204" pitchFamily="34" charset="0"/>
              <a:cs typeface="Shruti" panose="020B0502040204020203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hruti" panose="020B0502040204020203" pitchFamily="34" charset="0"/>
              </a:rPr>
              <a:t>Need for: 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egoe UI Symbol" panose="020B0502040204020203" pitchFamily="34" charset="0"/>
              </a:rPr>
              <a:t>✔</a:t>
            </a: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Fast detection 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egoe UI Symbol" panose="020B0502040204020203" pitchFamily="34" charset="0"/>
              </a:rPr>
              <a:t>✔</a:t>
            </a: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Accurate diagnosis </a:t>
            </a:r>
          </a:p>
          <a:p>
            <a:pPr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en-IN" kern="100" dirty="0">
                <a:effectLst/>
                <a:ea typeface="Calibri" panose="020F0502020204030204" pitchFamily="34" charset="0"/>
                <a:cs typeface="Segoe UI Symbol" panose="020B0502040204020203" pitchFamily="34" charset="0"/>
              </a:rPr>
              <a:t>✔</a:t>
            </a:r>
            <a:r>
              <a:rPr lang="en-IN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Scalable solution </a:t>
            </a:r>
          </a:p>
        </p:txBody>
      </p:sp>
    </p:spTree>
    <p:extLst>
      <p:ext uri="{BB962C8B-B14F-4D97-AF65-F5344CB8AC3E}">
        <p14:creationId xmlns:p14="http://schemas.microsoft.com/office/powerpoint/2010/main" val="734043955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8504C-45F2-6F06-146A-7A7EB3CCD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98DC924-31A3-A079-6E3F-374AD4FB0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4117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dirty="0"/>
              <a:t>System Architecture / Pipeline</a:t>
            </a:r>
            <a:endParaRPr lang="en-IN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40E62C-F932-64EC-42AE-5FB633578570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592B34-2A15-ED07-FACA-2B4FE2427C29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D747600-682C-C112-99B6-858065592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191" y="1596695"/>
            <a:ext cx="7457615" cy="5595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38449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69785-C5C1-55AB-6492-1F7D6E54C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17759CA-5F31-D78A-9130-8C8CD5FE1CD8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6392AC-3F62-1626-5223-7A05D482AC5A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5C4FE72-D355-DD6C-66C0-2DF053611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90" y="211121"/>
            <a:ext cx="10515600" cy="770171"/>
          </a:xfrm>
        </p:spPr>
        <p:txBody>
          <a:bodyPr/>
          <a:lstStyle/>
          <a:p>
            <a:r>
              <a:rPr lang="en-US" dirty="0"/>
              <a:t>Dashboard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14807F-AB81-2989-FF3F-2529C90BA5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055" y="1049555"/>
            <a:ext cx="11762025" cy="57401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773518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F6B8-C8C6-1D47-3C62-E2E0A90D2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7C4792D-3D1D-0E0B-85E2-D7969FDFF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172207"/>
            <a:ext cx="10515600" cy="770171"/>
          </a:xfrm>
        </p:spPr>
        <p:txBody>
          <a:bodyPr>
            <a:normAutofit/>
          </a:bodyPr>
          <a:lstStyle/>
          <a:p>
            <a:r>
              <a:rPr lang="en-US" sz="4000" dirty="0"/>
              <a:t>Pest Detection ( YOLO )</a:t>
            </a:r>
            <a:endParaRPr lang="en-IN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C48DB3-1138-C637-8798-3EFD46A6C559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418F5C-16FC-DBE9-6304-A3D53CBAC787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8E564F-AC00-5A14-3D9B-8088FF9F0A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36" y="983978"/>
            <a:ext cx="11589774" cy="5874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7815515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6D708-8B89-A29D-FF88-DBBF0EA4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F24804-305E-8C9C-A4A2-C1CD7EEE5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172207"/>
            <a:ext cx="10515600" cy="770171"/>
          </a:xfrm>
        </p:spPr>
        <p:txBody>
          <a:bodyPr>
            <a:normAutofit/>
          </a:bodyPr>
          <a:lstStyle/>
          <a:p>
            <a:r>
              <a:rPr lang="en-US" sz="4000" dirty="0"/>
              <a:t>Pest Detection ( YOLO )</a:t>
            </a:r>
            <a:endParaRPr lang="en-IN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2D9CD-6C17-07A1-5F0B-92AB4432F841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423D9A-5E27-490A-563A-22D868E1BF9F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E7699-1B37-3276-D586-FC37812884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0" y="1180706"/>
            <a:ext cx="11967559" cy="5677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039832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CB4384-BB59-9EA2-6F10-79E7E949A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F73D7F1-FEA2-FF75-0232-88703BF49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172207"/>
            <a:ext cx="10515600" cy="770171"/>
          </a:xfrm>
        </p:spPr>
        <p:txBody>
          <a:bodyPr>
            <a:normAutofit/>
          </a:bodyPr>
          <a:lstStyle/>
          <a:p>
            <a:r>
              <a:rPr lang="en-US" sz="4000" dirty="0"/>
              <a:t>Disease Detection ( YOLO )</a:t>
            </a:r>
            <a:endParaRPr lang="en-IN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E191B-265E-29A8-3472-06E83C7563C4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9C5EFA-FB24-709F-2FB6-07CFDF09D0D0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19978A-55F6-35A0-F79A-688DB2E68C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80" y="1093229"/>
            <a:ext cx="10165091" cy="5764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5332718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448F-77CF-FF38-5691-EB371C88C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63B4379-2BB2-C35F-FFCF-A7B8D02D7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36" y="172207"/>
            <a:ext cx="10515600" cy="770171"/>
          </a:xfrm>
        </p:spPr>
        <p:txBody>
          <a:bodyPr>
            <a:normAutofit/>
          </a:bodyPr>
          <a:lstStyle/>
          <a:p>
            <a:r>
              <a:rPr lang="en-US" sz="4000" dirty="0"/>
              <a:t>Disease Detection ( YOLO )</a:t>
            </a:r>
            <a:endParaRPr lang="en-IN" sz="40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F62678-16ED-DD97-F1C7-DDE11391E280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11B75D-D345-7E1B-0A32-AE9D3D37ADC3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4D2F1B-CCEE-BCE9-0E53-66DE60D8B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36" y="1176586"/>
            <a:ext cx="11467075" cy="56814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3607035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6A9D7-1255-30A3-0C7A-FDD7685F2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D74D93C-D43C-BF64-B509-1F40CF8AD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432" y="129623"/>
            <a:ext cx="10515600" cy="770171"/>
          </a:xfrm>
        </p:spPr>
        <p:txBody>
          <a:bodyPr>
            <a:normAutofit/>
          </a:bodyPr>
          <a:lstStyle/>
          <a:p>
            <a:r>
              <a:rPr lang="en-IN" sz="2800" dirty="0"/>
              <a:t>ABLATION STUDY ( Classification Focus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2C60C9-1441-E325-E462-1134DC832B78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B2B80E-C4E2-ADB7-2AAE-A200E597DB84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0C1F0B-8F12-8CE3-DC48-8D374BA232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638" y="831531"/>
            <a:ext cx="8112519" cy="4447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3BF95B-2734-B26F-E734-6C9818A4A1A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705" y="5347289"/>
            <a:ext cx="6441006" cy="1510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6288241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DAC41-64D3-113F-F433-B3BAD5BF5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29B455-7343-A0F8-6CF4-0E849C061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18" y="152542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dirty="0"/>
              <a:t>Model Evaluation &amp; Results</a:t>
            </a:r>
            <a:endParaRPr lang="en-IN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028BF-9C2D-BD2C-53E6-84FE7C262735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F6B22B-2555-AB09-ED12-5921F87FF27A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685F9A-18A4-8FA2-97FA-4DC3B0DFB5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42" y="1258529"/>
            <a:ext cx="11565316" cy="5250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080678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317A-FF07-CBA1-2B70-AB7BD2B46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9DBB611-1917-D33E-5A9A-574E87FC8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18" y="152542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dirty="0"/>
              <a:t>Model Evaluation &amp; Results</a:t>
            </a:r>
            <a:endParaRPr lang="en-IN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E018E6-2EFD-7852-E8D2-ED3FBC37D9B3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F6112-4BB9-94EE-3E98-BDDF52EF7FAE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4D9458-0D38-12F3-2B1E-BB249AEBF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481" y="1383019"/>
            <a:ext cx="11647038" cy="5322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367726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FD9BA-FEED-71D3-52D1-1C2E45E21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0E10C3D-A0D8-29DA-FB16-A806A75D9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18" y="152542"/>
            <a:ext cx="10515600" cy="770171"/>
          </a:xfrm>
        </p:spPr>
        <p:txBody>
          <a:bodyPr>
            <a:normAutofit/>
          </a:bodyPr>
          <a:lstStyle/>
          <a:p>
            <a:r>
              <a:rPr lang="en-US" sz="3600" dirty="0"/>
              <a:t>Model Analytics</a:t>
            </a:r>
            <a:endParaRPr lang="en-IN" sz="36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7650E2-B225-60DC-5EA4-A958F40631E3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E2CF7F-FEC3-EBEB-45AF-C3ADFCC07884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78726-90F9-1DCA-31E0-1D0DCD008C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40337"/>
            <a:ext cx="10515599" cy="56651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6573189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91450-FAD6-B4C2-ACD1-C45CD242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3582FC7-37F4-9899-FF47-3D083BAC1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07" y="156754"/>
            <a:ext cx="10803194" cy="1170509"/>
          </a:xfrm>
        </p:spPr>
        <p:txBody>
          <a:bodyPr>
            <a:normAutofit/>
          </a:bodyPr>
          <a:lstStyle/>
          <a:p>
            <a:r>
              <a:rPr lang="en-IN" dirty="0"/>
              <a:t>Limitations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1C0FA4-F53F-4520-B1A7-879E062C4688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BD470F-901B-D1A1-F816-243EE6ACE4A2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123A15A-57C8-0486-C52B-96D866B1E9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777" y="333866"/>
            <a:ext cx="70167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7627488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ACFEA-EEEE-5A52-2EF8-F1876BE4D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D02583A-2AB3-1E45-FE68-A02564ECC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" y="248674"/>
            <a:ext cx="10803194" cy="1170509"/>
          </a:xfrm>
        </p:spPr>
        <p:txBody>
          <a:bodyPr>
            <a:normAutofit/>
          </a:bodyPr>
          <a:lstStyle/>
          <a:p>
            <a:r>
              <a:rPr lang="en-IN" sz="4000" dirty="0"/>
              <a:t>Future Scope / Improvements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5B024-388C-8827-5E99-3C8CA4D247FE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7DE4E3-21F0-1A94-4F13-4CCEB83779B1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F4B0C9C-C732-3386-4F67-6842FB953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377" y="1595809"/>
            <a:ext cx="9440965" cy="563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8696007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FEBF7-88F7-CEA0-E0A7-9B3B6D4B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EC67C7A-5088-48FF-29FC-EB6180D5231A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44A43B-6D2D-78F7-E6C7-3C09FD488A58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D34980-FE61-3D9A-CDF5-A28248DEC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7187" y="3429000"/>
            <a:ext cx="2553929" cy="770171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+mn-lt"/>
              </a:rPr>
              <a:t>Money…</a:t>
            </a:r>
          </a:p>
        </p:txBody>
      </p:sp>
    </p:spTree>
    <p:extLst>
      <p:ext uri="{BB962C8B-B14F-4D97-AF65-F5344CB8AC3E}">
        <p14:creationId xmlns:p14="http://schemas.microsoft.com/office/powerpoint/2010/main" val="893412867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EE53-E802-5019-95A0-A85B23D4C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E43556-F49C-51D2-1523-349E15998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" y="211888"/>
            <a:ext cx="10803194" cy="1170509"/>
          </a:xfrm>
        </p:spPr>
        <p:txBody>
          <a:bodyPr>
            <a:normAutofit/>
          </a:bodyPr>
          <a:lstStyle/>
          <a:p>
            <a:r>
              <a:rPr lang="en-IN" dirty="0"/>
              <a:t>Industry Relevance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803FC8-E9AB-7A62-30BC-FF92E91E968C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EBB2A-39FE-B2F7-8344-8DF241C9B77C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0D8F63-9464-0E9C-D69B-E88EF6209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456108"/>
              </p:ext>
            </p:extLst>
          </p:nvPr>
        </p:nvGraphicFramePr>
        <p:xfrm>
          <a:off x="842764" y="2339382"/>
          <a:ext cx="8547042" cy="3589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8114">
                  <a:extLst>
                    <a:ext uri="{9D8B030D-6E8A-4147-A177-3AD203B41FA5}">
                      <a16:colId xmlns:a16="http://schemas.microsoft.com/office/drawing/2014/main" val="848928519"/>
                    </a:ext>
                  </a:extLst>
                </a:gridCol>
                <a:gridCol w="5018928">
                  <a:extLst>
                    <a:ext uri="{9D8B030D-6E8A-4147-A177-3AD203B41FA5}">
                      <a16:colId xmlns:a16="http://schemas.microsoft.com/office/drawing/2014/main" val="2834585405"/>
                    </a:ext>
                  </a:extLst>
                </a:gridCol>
              </a:tblGrid>
              <a:tr h="5364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Industry Pain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CV Solution Mapping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919056"/>
                  </a:ext>
                </a:extLst>
              </a:tr>
              <a:tr h="76325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Late Disease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CV enables early, real-time identification from images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515125"/>
                  </a:ext>
                </a:extLst>
              </a:tr>
              <a:tr h="763253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Excess Pesticide Usage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Targeted spraying using precise infection detection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928860"/>
                  </a:ext>
                </a:extLst>
              </a:tr>
              <a:tr h="76325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Manual Field Inspection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dirty="0"/>
                        <a:t>Automated monitoring via mobile apps/drones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9765330"/>
                  </a:ext>
                </a:extLst>
              </a:tr>
              <a:tr h="763253"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Lack of Expert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AI-based diagnosis provides expert-level insights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453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4148724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7A326-2417-C135-A041-A1CAAC07F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C7F050D-A89C-75DE-7F30-69DB6BAA1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55" y="235974"/>
            <a:ext cx="10803194" cy="1170509"/>
          </a:xfrm>
        </p:spPr>
        <p:txBody>
          <a:bodyPr>
            <a:normAutofit/>
          </a:bodyPr>
          <a:lstStyle/>
          <a:p>
            <a:r>
              <a:rPr lang="en-IN" dirty="0" err="1"/>
              <a:t>PrecisionHawk</a:t>
            </a:r>
            <a:r>
              <a:rPr lang="en-IN" dirty="0"/>
              <a:t> ( Case Study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AFF150-F420-3C5E-55A2-DBEC7B2C9EC3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275011-B165-A63D-5840-6CECC77D5BD4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E090E-0036-6812-FB8C-A8F1BA421894}"/>
              </a:ext>
            </a:extLst>
          </p:cNvPr>
          <p:cNvSpPr txBox="1"/>
          <p:nvPr/>
        </p:nvSpPr>
        <p:spPr>
          <a:xfrm>
            <a:off x="752168" y="2222089"/>
            <a:ext cx="1068766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/>
              <a:t>PrecisionHawk</a:t>
            </a:r>
            <a:r>
              <a:rPr lang="en-US" sz="2000" b="1" dirty="0"/>
              <a:t> (One of the earliest pioneers) </a:t>
            </a:r>
          </a:p>
          <a:p>
            <a:r>
              <a:rPr lang="en-US" dirty="0"/>
              <a:t>US-based drone and geospatial analytics company</a:t>
            </a:r>
            <a:endParaRPr lang="en-US" b="1" dirty="0"/>
          </a:p>
          <a:p>
            <a:endParaRPr lang="en-US" sz="2000" b="1" dirty="0"/>
          </a:p>
          <a:p>
            <a:r>
              <a:rPr lang="en-US" sz="2000" dirty="0"/>
              <a:t>-- Among the </a:t>
            </a:r>
            <a:r>
              <a:rPr lang="en-US" sz="2000" b="1" dirty="0"/>
              <a:t>first major companies (early 2010s)</a:t>
            </a:r>
            <a:r>
              <a:rPr lang="en-US" sz="2000" dirty="0"/>
              <a:t> to combine: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Drone imagery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Machine learning + computer vision </a:t>
            </a:r>
          </a:p>
          <a:p>
            <a:endParaRPr lang="en-US" sz="2000" dirty="0"/>
          </a:p>
          <a:p>
            <a:r>
              <a:rPr lang="en-US" sz="2000" dirty="0"/>
              <a:t>-- Their platform (</a:t>
            </a:r>
            <a:r>
              <a:rPr lang="en-US" sz="2000" b="1" dirty="0" err="1"/>
              <a:t>PrecisionAnalytics</a:t>
            </a:r>
            <a:r>
              <a:rPr lang="en-US" sz="2000" dirty="0"/>
              <a:t>) analyzes aerial images to: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Detect crop stress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Monitor plant health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Identify anomalies (disease/pest patterns) </a:t>
            </a:r>
          </a:p>
          <a:p>
            <a:endParaRPr lang="en-IN" dirty="0"/>
          </a:p>
          <a:p>
            <a:r>
              <a:rPr lang="en-US" sz="2000" dirty="0"/>
              <a:t>-- Generated </a:t>
            </a:r>
            <a:r>
              <a:rPr lang="en-US" sz="2000" b="1" dirty="0"/>
              <a:t>millions in service + software revenue annually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60281121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FCFF-164A-7241-4427-BD70BFC98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5A58F68-FB04-0D3D-FE77-29FF9672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55" y="235974"/>
            <a:ext cx="10803194" cy="1170509"/>
          </a:xfrm>
        </p:spPr>
        <p:txBody>
          <a:bodyPr>
            <a:normAutofit/>
          </a:bodyPr>
          <a:lstStyle/>
          <a:p>
            <a:r>
              <a:rPr lang="en-IN" dirty="0"/>
              <a:t>Government Interest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EA0283-19CE-2A6B-DE33-17316A48C66A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BDB83D-084C-40BF-3040-F124A535CC84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56BED4-8699-72C6-1DAE-8A72DE495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305007"/>
              </p:ext>
            </p:extLst>
          </p:nvPr>
        </p:nvGraphicFramePr>
        <p:xfrm>
          <a:off x="690716" y="3942792"/>
          <a:ext cx="10515600" cy="2103120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4129529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166013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5152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Funding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Amount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945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Policy + budget support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(Indirect, no fixed number)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4800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Direct funding released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₹129.19 crore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01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Increased funding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₹141.39 crore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545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Subsidy-based expansion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₹50–100+ crore (estimated range)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719336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6CC45DD-646C-CACE-D21B-3AE2E27F1E94}"/>
              </a:ext>
            </a:extLst>
          </p:cNvPr>
          <p:cNvSpPr txBox="1"/>
          <p:nvPr/>
        </p:nvSpPr>
        <p:spPr>
          <a:xfrm>
            <a:off x="690717" y="2222090"/>
            <a:ext cx="83844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Under the </a:t>
            </a:r>
            <a:r>
              <a:rPr lang="en-IN" b="1" dirty="0"/>
              <a:t>Kisan Drone Promotion Scheme</a:t>
            </a:r>
            <a:r>
              <a:rPr lang="en-IN" dirty="0"/>
              <a:t>, Central Government has released about </a:t>
            </a:r>
            <a:r>
              <a:rPr lang="en-IN" b="1" dirty="0"/>
              <a:t>129.19 crore</a:t>
            </a:r>
            <a:r>
              <a:rPr lang="en-IN" dirty="0"/>
              <a:t>.</a:t>
            </a:r>
          </a:p>
          <a:p>
            <a:endParaRPr lang="en-IN" dirty="0"/>
          </a:p>
          <a:p>
            <a:pPr marL="285750" indent="-285750">
              <a:buFontTx/>
              <a:buChar char="-"/>
            </a:pPr>
            <a:r>
              <a:rPr lang="en-IN" dirty="0"/>
              <a:t>For 300 drones </a:t>
            </a:r>
            <a:r>
              <a:rPr lang="en-IN" dirty="0" err="1"/>
              <a:t>apx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28452735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5518F-0F30-F98F-F601-CE6F775B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9B0AC54-B67D-27EE-6D1B-4DF26B559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03" y="211888"/>
            <a:ext cx="10803194" cy="1170509"/>
          </a:xfrm>
        </p:spPr>
        <p:txBody>
          <a:bodyPr>
            <a:normAutofit/>
          </a:bodyPr>
          <a:lstStyle/>
          <a:p>
            <a:r>
              <a:rPr lang="en-IN" dirty="0"/>
              <a:t>Conclusion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1FC3C7-377D-D4CB-0363-333B52F5C863}"/>
              </a:ext>
            </a:extLst>
          </p:cNvPr>
          <p:cNvSpPr/>
          <p:nvPr/>
        </p:nvSpPr>
        <p:spPr>
          <a:xfrm>
            <a:off x="4139376" y="6424612"/>
            <a:ext cx="1534776" cy="3651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C24C16-5298-EBEA-35F4-7C468434EE77}"/>
              </a:ext>
            </a:extLst>
          </p:cNvPr>
          <p:cNvSpPr/>
          <p:nvPr/>
        </p:nvSpPr>
        <p:spPr>
          <a:xfrm>
            <a:off x="9655278" y="6508954"/>
            <a:ext cx="1209367" cy="34904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8BC624D-C859-76B0-8ED0-B3B2CD953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044" y="399098"/>
            <a:ext cx="9091912" cy="7008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399661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FA32-4558-1CB5-907C-1A0780936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62B3D1-F182-2D46-A120-7784B4167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2A5B8-57E6-46AB-9EF8-FF0A3783194A}" type="slidenum">
              <a:rPr lang="en-IN" smtClean="0"/>
              <a:pPr/>
              <a:t>22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A3F29-E903-1F9A-B004-41BB9BEB5321}"/>
              </a:ext>
            </a:extLst>
          </p:cNvPr>
          <p:cNvSpPr txBox="1"/>
          <p:nvPr/>
        </p:nvSpPr>
        <p:spPr>
          <a:xfrm>
            <a:off x="2401612" y="3246959"/>
            <a:ext cx="7388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>
                <a:solidFill>
                  <a:schemeClr val="accent5"/>
                </a:solidFill>
                <a:latin typeface="+mj-lt"/>
              </a:rPr>
              <a:t>Thank You</a:t>
            </a:r>
          </a:p>
        </p:txBody>
      </p:sp>
      <p:pic>
        <p:nvPicPr>
          <p:cNvPr id="12" name="Picture 11" descr="A white building with many windows&#10;&#10;Description automatically generated">
            <a:extLst>
              <a:ext uri="{FF2B5EF4-FFF2-40B4-BE49-F238E27FC236}">
                <a16:creationId xmlns:a16="http://schemas.microsoft.com/office/drawing/2014/main" id="{B3DE9963-B063-E9D8-D8B4-499ADBC68D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" y="3048"/>
            <a:ext cx="12179808" cy="685190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DC2CF94-313C-7699-68B7-3F98D06AB332}"/>
              </a:ext>
            </a:extLst>
          </p:cNvPr>
          <p:cNvSpPr txBox="1"/>
          <p:nvPr/>
        </p:nvSpPr>
        <p:spPr>
          <a:xfrm>
            <a:off x="2051987" y="3130418"/>
            <a:ext cx="73887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b="1">
                <a:solidFill>
                  <a:schemeClr val="accent5"/>
                </a:solidFill>
                <a:latin typeface="Adani Regular" panose="02000503000000020004" pitchFamily="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24235810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ani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2">
      <a:majorFont>
        <a:latin typeface="Adani Regular"/>
        <a:ea typeface=""/>
        <a:cs typeface=""/>
      </a:majorFont>
      <a:minorFont>
        <a:latin typeface="Adani Regular"/>
        <a:ea typeface=""/>
        <a:cs typeface="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ani" id="{840098D3-ED67-4195-8788-9C53CA7E258D}" vid="{DF51B7E2-A5E1-433C-83FB-9D2DE903BD6E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18085</TotalTime>
  <Words>348</Words>
  <Application>Microsoft Office PowerPoint</Application>
  <PresentationFormat>Widescreen</PresentationFormat>
  <Paragraphs>78</Paragraphs>
  <Slides>22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Adani Bold</vt:lpstr>
      <vt:lpstr>Adani Regular</vt:lpstr>
      <vt:lpstr>Aptos</vt:lpstr>
      <vt:lpstr>Aptos Display</vt:lpstr>
      <vt:lpstr>Arial</vt:lpstr>
      <vt:lpstr>Calibri</vt:lpstr>
      <vt:lpstr>Symbol</vt:lpstr>
      <vt:lpstr>Adani</vt:lpstr>
      <vt:lpstr>Custom Design</vt:lpstr>
      <vt:lpstr>Computer Vision using Python    Pest &amp; Disease Detection in Field Crops (Precision Agriculture)</vt:lpstr>
      <vt:lpstr>Problem Understanding</vt:lpstr>
      <vt:lpstr>PowerPoint Presentation</vt:lpstr>
      <vt:lpstr>Motivation</vt:lpstr>
      <vt:lpstr>System Architecture / Pipeline</vt:lpstr>
      <vt:lpstr>Dashboard</vt:lpstr>
      <vt:lpstr>Pest Detection ( YOLO )</vt:lpstr>
      <vt:lpstr>Pest Detection ( YOLO )</vt:lpstr>
      <vt:lpstr>Disease Detection ( YOLO )</vt:lpstr>
      <vt:lpstr>Disease Detection ( YOLO )</vt:lpstr>
      <vt:lpstr>ABLATION STUDY ( Classification Focus )</vt:lpstr>
      <vt:lpstr>Model Evaluation &amp; Results</vt:lpstr>
      <vt:lpstr>Model Evaluation &amp; Results</vt:lpstr>
      <vt:lpstr>Model Analytics</vt:lpstr>
      <vt:lpstr>Limitations</vt:lpstr>
      <vt:lpstr>Future Scope / Improvements</vt:lpstr>
      <vt:lpstr>Money…</vt:lpstr>
      <vt:lpstr>Industry Relevance</vt:lpstr>
      <vt:lpstr>PrecisionHawk ( Case Study )</vt:lpstr>
      <vt:lpstr>Government Interest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datatypes (Vectors)</dc:title>
  <dc:creator>Utkarsh  Sharma</dc:creator>
  <cp:lastModifiedBy>Neel Javiya</cp:lastModifiedBy>
  <cp:revision>158</cp:revision>
  <cp:lastPrinted>2023-06-13T10:48:11Z</cp:lastPrinted>
  <dcterms:created xsi:type="dcterms:W3CDTF">2022-04-02T05:42:11Z</dcterms:created>
  <dcterms:modified xsi:type="dcterms:W3CDTF">2026-03-28T10:04:24Z</dcterms:modified>
</cp:coreProperties>
</file>